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4"/>
  </p:sldMasterIdLst>
  <p:notesMasterIdLst>
    <p:notesMasterId r:id="rId26"/>
  </p:notesMasterIdLst>
  <p:handoutMasterIdLst>
    <p:handoutMasterId r:id="rId27"/>
  </p:handoutMasterIdLst>
  <p:sldIdLst>
    <p:sldId id="258" r:id="rId5"/>
    <p:sldId id="305" r:id="rId6"/>
    <p:sldId id="262" r:id="rId7"/>
    <p:sldId id="286" r:id="rId8"/>
    <p:sldId id="261" r:id="rId9"/>
    <p:sldId id="284" r:id="rId10"/>
    <p:sldId id="263" r:id="rId11"/>
    <p:sldId id="264" r:id="rId12"/>
    <p:sldId id="270" r:id="rId13"/>
    <p:sldId id="271" r:id="rId14"/>
    <p:sldId id="293" r:id="rId15"/>
    <p:sldId id="296" r:id="rId16"/>
    <p:sldId id="297" r:id="rId17"/>
    <p:sldId id="298" r:id="rId18"/>
    <p:sldId id="299" r:id="rId19"/>
    <p:sldId id="304" r:id="rId20"/>
    <p:sldId id="300" r:id="rId21"/>
    <p:sldId id="301" r:id="rId22"/>
    <p:sldId id="303" r:id="rId23"/>
    <p:sldId id="302" r:id="rId24"/>
    <p:sldId id="29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87127D-E7A7-455E-93D3-1EAC1DAB5C8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B54B875-7D75-439A-96AC-0B6B0E0F90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SCRAPING</a:t>
          </a:r>
        </a:p>
        <a:p>
          <a:pPr>
            <a:lnSpc>
              <a:spcPct val="100000"/>
            </a:lnSpc>
            <a:defRPr cap="all"/>
          </a:pPr>
          <a:r>
            <a:rPr lang="en-US" dirty="0"/>
            <a:t>STRATEGY</a:t>
          </a:r>
        </a:p>
      </dgm:t>
    </dgm:pt>
    <dgm:pt modelId="{E10A52C8-AA57-46D3-B7CE-50C51AD1F38B}" type="parTrans" cxnId="{2D027D54-0797-4CE1-8646-E3A6F4D7AE6C}">
      <dgm:prSet/>
      <dgm:spPr/>
      <dgm:t>
        <a:bodyPr/>
        <a:lstStyle/>
        <a:p>
          <a:endParaRPr lang="en-US"/>
        </a:p>
      </dgm:t>
    </dgm:pt>
    <dgm:pt modelId="{6BB7D5D8-B58C-4639-AB04-F3323C9E3D5A}" type="sibTrans" cxnId="{2D027D54-0797-4CE1-8646-E3A6F4D7AE6C}">
      <dgm:prSet/>
      <dgm:spPr/>
      <dgm:t>
        <a:bodyPr/>
        <a:lstStyle/>
        <a:p>
          <a:endParaRPr lang="en-US"/>
        </a:p>
      </dgm:t>
    </dgm:pt>
    <dgm:pt modelId="{F342216F-FBF1-41D7-919C-7049CA2057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Data collection</a:t>
          </a:r>
        </a:p>
      </dgm:t>
    </dgm:pt>
    <dgm:pt modelId="{458C9A33-97A5-4CBB-B140-5648BC39D963}" type="parTrans" cxnId="{3D238423-40A9-4D99-B54D-A2855A3DA7BF}">
      <dgm:prSet/>
      <dgm:spPr/>
      <dgm:t>
        <a:bodyPr/>
        <a:lstStyle/>
        <a:p>
          <a:endParaRPr lang="en-US"/>
        </a:p>
      </dgm:t>
    </dgm:pt>
    <dgm:pt modelId="{4264E9A9-DAC3-427B-8E9E-0073816BE51F}" type="sibTrans" cxnId="{3D238423-40A9-4D99-B54D-A2855A3DA7BF}">
      <dgm:prSet/>
      <dgm:spPr/>
      <dgm:t>
        <a:bodyPr/>
        <a:lstStyle/>
        <a:p>
          <a:endParaRPr lang="en-US"/>
        </a:p>
      </dgm:t>
    </dgm:pt>
    <dgm:pt modelId="{89123716-B84D-436A-B032-220B2B9CADD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DATA</a:t>
          </a:r>
        </a:p>
        <a:p>
          <a:pPr>
            <a:lnSpc>
              <a:spcPct val="100000"/>
            </a:lnSpc>
            <a:defRPr cap="all"/>
          </a:pPr>
          <a:r>
            <a:rPr lang="en-US" dirty="0"/>
            <a:t>ENRICHMENT</a:t>
          </a:r>
        </a:p>
      </dgm:t>
    </dgm:pt>
    <dgm:pt modelId="{A99727AF-82D3-4448-923F-255E12D7C9BC}" type="parTrans" cxnId="{4160E90A-0E10-4739-BB63-163659A712F0}">
      <dgm:prSet/>
      <dgm:spPr/>
      <dgm:t>
        <a:bodyPr/>
        <a:lstStyle/>
        <a:p>
          <a:endParaRPr lang="en-US"/>
        </a:p>
      </dgm:t>
    </dgm:pt>
    <dgm:pt modelId="{79535D29-4C9A-449D-A727-B90BC51637B7}" type="sibTrans" cxnId="{4160E90A-0E10-4739-BB63-163659A712F0}">
      <dgm:prSet/>
      <dgm:spPr/>
      <dgm:t>
        <a:bodyPr/>
        <a:lstStyle/>
        <a:p>
          <a:endParaRPr lang="en-US"/>
        </a:p>
      </dgm:t>
    </dgm:pt>
    <dgm:pt modelId="{BD4CDB43-353E-4B02-B096-C95F07496D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Data cleaning</a:t>
          </a:r>
        </a:p>
      </dgm:t>
    </dgm:pt>
    <dgm:pt modelId="{50B9826E-03A9-4BEC-83AF-4FE3EC5546B9}" type="parTrans" cxnId="{0560C2CF-2867-4C41-9B84-C43B49A1EFCF}">
      <dgm:prSet/>
      <dgm:spPr/>
      <dgm:t>
        <a:bodyPr/>
        <a:lstStyle/>
        <a:p>
          <a:endParaRPr lang="en-US"/>
        </a:p>
      </dgm:t>
    </dgm:pt>
    <dgm:pt modelId="{F766CB66-C9FA-4DBA-A25A-4A827F70313C}" type="sibTrans" cxnId="{0560C2CF-2867-4C41-9B84-C43B49A1EFCF}">
      <dgm:prSet/>
      <dgm:spPr/>
      <dgm:t>
        <a:bodyPr/>
        <a:lstStyle/>
        <a:p>
          <a:endParaRPr lang="en-US"/>
        </a:p>
      </dgm:t>
    </dgm:pt>
    <dgm:pt modelId="{03357AA3-34FD-4084-981B-4888AF7A877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Balancing &amp; </a:t>
          </a:r>
        </a:p>
        <a:p>
          <a:pPr>
            <a:lnSpc>
              <a:spcPct val="100000"/>
            </a:lnSpc>
            <a:defRPr cap="all"/>
          </a:pPr>
          <a:r>
            <a:rPr lang="en-US" dirty="0"/>
            <a:t>labelling </a:t>
          </a:r>
        </a:p>
      </dgm:t>
    </dgm:pt>
    <dgm:pt modelId="{808A9C68-B161-452E-964F-0C64CF06ACB9}" type="parTrans" cxnId="{3339A85E-8A17-474A-9625-A3A8050AE3F3}">
      <dgm:prSet/>
      <dgm:spPr/>
      <dgm:t>
        <a:bodyPr/>
        <a:lstStyle/>
        <a:p>
          <a:endParaRPr lang="en-US"/>
        </a:p>
      </dgm:t>
    </dgm:pt>
    <dgm:pt modelId="{E46BB54B-28C9-4098-8BD7-9DBBCB69561D}" type="sibTrans" cxnId="{3339A85E-8A17-474A-9625-A3A8050AE3F3}">
      <dgm:prSet/>
      <dgm:spPr/>
      <dgm:t>
        <a:bodyPr/>
        <a:lstStyle/>
        <a:p>
          <a:endParaRPr lang="en-US"/>
        </a:p>
      </dgm:t>
    </dgm:pt>
    <dgm:pt modelId="{D8316F63-CE47-407B-9DCB-E8FEC91F0742}" type="pres">
      <dgm:prSet presAssocID="{1187127D-E7A7-455E-93D3-1EAC1DAB5C83}" presName="root" presStyleCnt="0">
        <dgm:presLayoutVars>
          <dgm:dir/>
          <dgm:resizeHandles val="exact"/>
        </dgm:presLayoutVars>
      </dgm:prSet>
      <dgm:spPr/>
    </dgm:pt>
    <dgm:pt modelId="{AE2471DD-AEF0-46AC-AE4E-4047B474E634}" type="pres">
      <dgm:prSet presAssocID="{0B54B875-7D75-439A-96AC-0B6B0E0F9027}" presName="compNode" presStyleCnt="0"/>
      <dgm:spPr/>
    </dgm:pt>
    <dgm:pt modelId="{6A28B40A-85CB-44CF-9E81-3063936285E3}" type="pres">
      <dgm:prSet presAssocID="{0B54B875-7D75-439A-96AC-0B6B0E0F9027}" presName="iconBgRect" presStyleLbl="bgShp" presStyleIdx="0" presStyleCnt="5"/>
      <dgm:spPr/>
    </dgm:pt>
    <dgm:pt modelId="{005524FB-3A0E-4BA5-B04E-59FC2E252AEB}" type="pres">
      <dgm:prSet presAssocID="{0B54B875-7D75-439A-96AC-0B6B0E0F902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10E3AB85-F629-46B7-9081-FC073256C023}" type="pres">
      <dgm:prSet presAssocID="{0B54B875-7D75-439A-96AC-0B6B0E0F9027}" presName="spaceRect" presStyleCnt="0"/>
      <dgm:spPr/>
    </dgm:pt>
    <dgm:pt modelId="{1A451185-6747-4E77-A3B3-9CCD7AC625EB}" type="pres">
      <dgm:prSet presAssocID="{0B54B875-7D75-439A-96AC-0B6B0E0F9027}" presName="textRect" presStyleLbl="revTx" presStyleIdx="0" presStyleCnt="5">
        <dgm:presLayoutVars>
          <dgm:chMax val="1"/>
          <dgm:chPref val="1"/>
        </dgm:presLayoutVars>
      </dgm:prSet>
      <dgm:spPr/>
    </dgm:pt>
    <dgm:pt modelId="{BD8992B9-B7CC-44F7-8E17-FEAD75D73260}" type="pres">
      <dgm:prSet presAssocID="{6BB7D5D8-B58C-4639-AB04-F3323C9E3D5A}" presName="sibTrans" presStyleCnt="0"/>
      <dgm:spPr/>
    </dgm:pt>
    <dgm:pt modelId="{4A705C56-DCC9-4BDC-963E-E3C1A32B8124}" type="pres">
      <dgm:prSet presAssocID="{F342216F-FBF1-41D7-919C-7049CA20572C}" presName="compNode" presStyleCnt="0"/>
      <dgm:spPr/>
    </dgm:pt>
    <dgm:pt modelId="{C4618682-3912-4E72-999D-4BF5CD06322D}" type="pres">
      <dgm:prSet presAssocID="{F342216F-FBF1-41D7-919C-7049CA20572C}" presName="iconBgRect" presStyleLbl="bgShp" presStyleIdx="1" presStyleCnt="5"/>
      <dgm:spPr/>
    </dgm:pt>
    <dgm:pt modelId="{172F9AEA-3377-4AFB-BDDB-45672D648ACC}" type="pres">
      <dgm:prSet presAssocID="{F342216F-FBF1-41D7-919C-7049CA20572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C97D28A-6337-4BD4-88DA-E386C94E58EA}" type="pres">
      <dgm:prSet presAssocID="{F342216F-FBF1-41D7-919C-7049CA20572C}" presName="spaceRect" presStyleCnt="0"/>
      <dgm:spPr/>
    </dgm:pt>
    <dgm:pt modelId="{7CEA8AF0-CDCB-4FBD-8FCB-A8EECB922CE0}" type="pres">
      <dgm:prSet presAssocID="{F342216F-FBF1-41D7-919C-7049CA20572C}" presName="textRect" presStyleLbl="revTx" presStyleIdx="1" presStyleCnt="5">
        <dgm:presLayoutVars>
          <dgm:chMax val="1"/>
          <dgm:chPref val="1"/>
        </dgm:presLayoutVars>
      </dgm:prSet>
      <dgm:spPr/>
    </dgm:pt>
    <dgm:pt modelId="{92A8B23C-69B8-4E96-B33F-BB2C249D15FB}" type="pres">
      <dgm:prSet presAssocID="{4264E9A9-DAC3-427B-8E9E-0073816BE51F}" presName="sibTrans" presStyleCnt="0"/>
      <dgm:spPr/>
    </dgm:pt>
    <dgm:pt modelId="{D938C496-9BEF-45FE-B395-F2557FB65E88}" type="pres">
      <dgm:prSet presAssocID="{89123716-B84D-436A-B032-220B2B9CADDC}" presName="compNode" presStyleCnt="0"/>
      <dgm:spPr/>
    </dgm:pt>
    <dgm:pt modelId="{1F290E81-B7E4-40F0-A220-DB97594D9AE3}" type="pres">
      <dgm:prSet presAssocID="{89123716-B84D-436A-B032-220B2B9CADDC}" presName="iconBgRect" presStyleLbl="bgShp" presStyleIdx="2" presStyleCnt="5"/>
      <dgm:spPr/>
    </dgm:pt>
    <dgm:pt modelId="{9FDBD919-83B2-43D2-B22A-C1D340DD896A}" type="pres">
      <dgm:prSet presAssocID="{89123716-B84D-436A-B032-220B2B9CADDC}" presName="iconRect" presStyleLbl="node1" presStyleIdx="2" presStyleCnt="5" custLinFactX="500000" custLinFactY="-100000" custLinFactNeighborX="591446" custLinFactNeighborY="-15650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48386B8-992B-4E81-92FA-A2A8D3DE4E53}" type="pres">
      <dgm:prSet presAssocID="{89123716-B84D-436A-B032-220B2B9CADDC}" presName="spaceRect" presStyleCnt="0"/>
      <dgm:spPr/>
    </dgm:pt>
    <dgm:pt modelId="{3F410A1B-B3E5-49A9-AA89-AAA8A26BCB24}" type="pres">
      <dgm:prSet presAssocID="{89123716-B84D-436A-B032-220B2B9CADDC}" presName="textRect" presStyleLbl="revTx" presStyleIdx="2" presStyleCnt="5">
        <dgm:presLayoutVars>
          <dgm:chMax val="1"/>
          <dgm:chPref val="1"/>
        </dgm:presLayoutVars>
      </dgm:prSet>
      <dgm:spPr/>
    </dgm:pt>
    <dgm:pt modelId="{AD0B658B-B50A-40EF-B4FE-7234C25616F8}" type="pres">
      <dgm:prSet presAssocID="{79535D29-4C9A-449D-A727-B90BC51637B7}" presName="sibTrans" presStyleCnt="0"/>
      <dgm:spPr/>
    </dgm:pt>
    <dgm:pt modelId="{CAC241F1-438C-4156-AE32-1C9D5A4592D9}" type="pres">
      <dgm:prSet presAssocID="{BD4CDB43-353E-4B02-B096-C95F07496D3C}" presName="compNode" presStyleCnt="0"/>
      <dgm:spPr/>
    </dgm:pt>
    <dgm:pt modelId="{17388459-6EB8-4F5E-BF5C-9EB4EB9F5789}" type="pres">
      <dgm:prSet presAssocID="{BD4CDB43-353E-4B02-B096-C95F07496D3C}" presName="iconBgRect" presStyleLbl="bgShp" presStyleIdx="3" presStyleCnt="5"/>
      <dgm:spPr/>
    </dgm:pt>
    <dgm:pt modelId="{958D9CF1-097F-4361-ABD4-11EB84ECFAE9}" type="pres">
      <dgm:prSet presAssocID="{BD4CDB43-353E-4B02-B096-C95F07496D3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9B133744-2F9F-4D93-9D78-885476BC07F6}" type="pres">
      <dgm:prSet presAssocID="{BD4CDB43-353E-4B02-B096-C95F07496D3C}" presName="spaceRect" presStyleCnt="0"/>
      <dgm:spPr/>
    </dgm:pt>
    <dgm:pt modelId="{FE08D94C-0979-4A7E-9611-4E89C272E0B9}" type="pres">
      <dgm:prSet presAssocID="{BD4CDB43-353E-4B02-B096-C95F07496D3C}" presName="textRect" presStyleLbl="revTx" presStyleIdx="3" presStyleCnt="5">
        <dgm:presLayoutVars>
          <dgm:chMax val="1"/>
          <dgm:chPref val="1"/>
        </dgm:presLayoutVars>
      </dgm:prSet>
      <dgm:spPr/>
    </dgm:pt>
    <dgm:pt modelId="{D32C510A-6CA6-410D-A15E-1EF69D9DB601}" type="pres">
      <dgm:prSet presAssocID="{F766CB66-C9FA-4DBA-A25A-4A827F70313C}" presName="sibTrans" presStyleCnt="0"/>
      <dgm:spPr/>
    </dgm:pt>
    <dgm:pt modelId="{CC946639-4A2B-4307-8E5A-06D67A6E7DE4}" type="pres">
      <dgm:prSet presAssocID="{03357AA3-34FD-4084-981B-4888AF7A877E}" presName="compNode" presStyleCnt="0"/>
      <dgm:spPr/>
    </dgm:pt>
    <dgm:pt modelId="{21D2485F-A179-4312-960D-B04D23F73093}" type="pres">
      <dgm:prSet presAssocID="{03357AA3-34FD-4084-981B-4888AF7A877E}" presName="iconBgRect" presStyleLbl="bgShp" presStyleIdx="4" presStyleCnt="5"/>
      <dgm:spPr/>
    </dgm:pt>
    <dgm:pt modelId="{E71EB1C6-24EC-4328-9469-745343CCA869}" type="pres">
      <dgm:prSet presAssocID="{03357AA3-34FD-4084-981B-4888AF7A87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284A2FFB-96C0-4491-838B-4F5E0ADB220A}" type="pres">
      <dgm:prSet presAssocID="{03357AA3-34FD-4084-981B-4888AF7A877E}" presName="spaceRect" presStyleCnt="0"/>
      <dgm:spPr/>
    </dgm:pt>
    <dgm:pt modelId="{1BA5D214-334E-4BA2-B451-DC551C28264B}" type="pres">
      <dgm:prSet presAssocID="{03357AA3-34FD-4084-981B-4888AF7A87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160E90A-0E10-4739-BB63-163659A712F0}" srcId="{1187127D-E7A7-455E-93D3-1EAC1DAB5C83}" destId="{89123716-B84D-436A-B032-220B2B9CADDC}" srcOrd="2" destOrd="0" parTransId="{A99727AF-82D3-4448-923F-255E12D7C9BC}" sibTransId="{79535D29-4C9A-449D-A727-B90BC51637B7}"/>
    <dgm:cxn modelId="{284BEB15-5C71-4905-A027-57797D994D65}" type="presOf" srcId="{F342216F-FBF1-41D7-919C-7049CA20572C}" destId="{7CEA8AF0-CDCB-4FBD-8FCB-A8EECB922CE0}" srcOrd="0" destOrd="0" presId="urn:microsoft.com/office/officeart/2018/5/layout/IconCircleLabelList"/>
    <dgm:cxn modelId="{665AB720-9620-4AC6-8DF1-9FB6CD014567}" type="presOf" srcId="{BD4CDB43-353E-4B02-B096-C95F07496D3C}" destId="{FE08D94C-0979-4A7E-9611-4E89C272E0B9}" srcOrd="0" destOrd="0" presId="urn:microsoft.com/office/officeart/2018/5/layout/IconCircleLabelList"/>
    <dgm:cxn modelId="{3D238423-40A9-4D99-B54D-A2855A3DA7BF}" srcId="{1187127D-E7A7-455E-93D3-1EAC1DAB5C83}" destId="{F342216F-FBF1-41D7-919C-7049CA20572C}" srcOrd="1" destOrd="0" parTransId="{458C9A33-97A5-4CBB-B140-5648BC39D963}" sibTransId="{4264E9A9-DAC3-427B-8E9E-0073816BE51F}"/>
    <dgm:cxn modelId="{D1F63E5B-71C3-4407-B69C-53CC2F17F251}" type="presOf" srcId="{0B54B875-7D75-439A-96AC-0B6B0E0F9027}" destId="{1A451185-6747-4E77-A3B3-9CCD7AC625EB}" srcOrd="0" destOrd="0" presId="urn:microsoft.com/office/officeart/2018/5/layout/IconCircleLabelList"/>
    <dgm:cxn modelId="{3339A85E-8A17-474A-9625-A3A8050AE3F3}" srcId="{1187127D-E7A7-455E-93D3-1EAC1DAB5C83}" destId="{03357AA3-34FD-4084-981B-4888AF7A877E}" srcOrd="4" destOrd="0" parTransId="{808A9C68-B161-452E-964F-0C64CF06ACB9}" sibTransId="{E46BB54B-28C9-4098-8BD7-9DBBCB69561D}"/>
    <dgm:cxn modelId="{945A7769-26D7-4812-8F59-B88B5CE7C0F3}" type="presOf" srcId="{03357AA3-34FD-4084-981B-4888AF7A877E}" destId="{1BA5D214-334E-4BA2-B451-DC551C28264B}" srcOrd="0" destOrd="0" presId="urn:microsoft.com/office/officeart/2018/5/layout/IconCircleLabelList"/>
    <dgm:cxn modelId="{2D027D54-0797-4CE1-8646-E3A6F4D7AE6C}" srcId="{1187127D-E7A7-455E-93D3-1EAC1DAB5C83}" destId="{0B54B875-7D75-439A-96AC-0B6B0E0F9027}" srcOrd="0" destOrd="0" parTransId="{E10A52C8-AA57-46D3-B7CE-50C51AD1F38B}" sibTransId="{6BB7D5D8-B58C-4639-AB04-F3323C9E3D5A}"/>
    <dgm:cxn modelId="{46799A86-856A-4949-AC18-96B169E2E058}" type="presOf" srcId="{1187127D-E7A7-455E-93D3-1EAC1DAB5C83}" destId="{D8316F63-CE47-407B-9DCB-E8FEC91F0742}" srcOrd="0" destOrd="0" presId="urn:microsoft.com/office/officeart/2018/5/layout/IconCircleLabelList"/>
    <dgm:cxn modelId="{0560C2CF-2867-4C41-9B84-C43B49A1EFCF}" srcId="{1187127D-E7A7-455E-93D3-1EAC1DAB5C83}" destId="{BD4CDB43-353E-4B02-B096-C95F07496D3C}" srcOrd="3" destOrd="0" parTransId="{50B9826E-03A9-4BEC-83AF-4FE3EC5546B9}" sibTransId="{F766CB66-C9FA-4DBA-A25A-4A827F70313C}"/>
    <dgm:cxn modelId="{3F295CDC-7471-482D-90A1-CAF76E95A10C}" type="presOf" srcId="{89123716-B84D-436A-B032-220B2B9CADDC}" destId="{3F410A1B-B3E5-49A9-AA89-AAA8A26BCB24}" srcOrd="0" destOrd="0" presId="urn:microsoft.com/office/officeart/2018/5/layout/IconCircleLabelList"/>
    <dgm:cxn modelId="{CC2717E0-B745-4FA0-BA9D-61935A040744}" type="presParOf" srcId="{D8316F63-CE47-407B-9DCB-E8FEC91F0742}" destId="{AE2471DD-AEF0-46AC-AE4E-4047B474E634}" srcOrd="0" destOrd="0" presId="urn:microsoft.com/office/officeart/2018/5/layout/IconCircleLabelList"/>
    <dgm:cxn modelId="{69E34C59-CEB5-4F65-8A99-276EFDDA7804}" type="presParOf" srcId="{AE2471DD-AEF0-46AC-AE4E-4047B474E634}" destId="{6A28B40A-85CB-44CF-9E81-3063936285E3}" srcOrd="0" destOrd="0" presId="urn:microsoft.com/office/officeart/2018/5/layout/IconCircleLabelList"/>
    <dgm:cxn modelId="{7FA62A85-3AE0-4230-8DEC-136FF67A2F75}" type="presParOf" srcId="{AE2471DD-AEF0-46AC-AE4E-4047B474E634}" destId="{005524FB-3A0E-4BA5-B04E-59FC2E252AEB}" srcOrd="1" destOrd="0" presId="urn:microsoft.com/office/officeart/2018/5/layout/IconCircleLabelList"/>
    <dgm:cxn modelId="{7CA4F707-4953-4BB7-8153-F387AA80FACC}" type="presParOf" srcId="{AE2471DD-AEF0-46AC-AE4E-4047B474E634}" destId="{10E3AB85-F629-46B7-9081-FC073256C023}" srcOrd="2" destOrd="0" presId="urn:microsoft.com/office/officeart/2018/5/layout/IconCircleLabelList"/>
    <dgm:cxn modelId="{2E91F802-C502-4DD3-B43A-1601D4FA9BC1}" type="presParOf" srcId="{AE2471DD-AEF0-46AC-AE4E-4047B474E634}" destId="{1A451185-6747-4E77-A3B3-9CCD7AC625EB}" srcOrd="3" destOrd="0" presId="urn:microsoft.com/office/officeart/2018/5/layout/IconCircleLabelList"/>
    <dgm:cxn modelId="{B4839D52-EE0B-4A8A-9C6D-7FD814118460}" type="presParOf" srcId="{D8316F63-CE47-407B-9DCB-E8FEC91F0742}" destId="{BD8992B9-B7CC-44F7-8E17-FEAD75D73260}" srcOrd="1" destOrd="0" presId="urn:microsoft.com/office/officeart/2018/5/layout/IconCircleLabelList"/>
    <dgm:cxn modelId="{FBD61538-10AA-4771-BB43-1A8DDA8B6D38}" type="presParOf" srcId="{D8316F63-CE47-407B-9DCB-E8FEC91F0742}" destId="{4A705C56-DCC9-4BDC-963E-E3C1A32B8124}" srcOrd="2" destOrd="0" presId="urn:microsoft.com/office/officeart/2018/5/layout/IconCircleLabelList"/>
    <dgm:cxn modelId="{F9E26C15-BFC6-4D29-9CB1-05963DCE45AF}" type="presParOf" srcId="{4A705C56-DCC9-4BDC-963E-E3C1A32B8124}" destId="{C4618682-3912-4E72-999D-4BF5CD06322D}" srcOrd="0" destOrd="0" presId="urn:microsoft.com/office/officeart/2018/5/layout/IconCircleLabelList"/>
    <dgm:cxn modelId="{EE54B73B-63D2-4205-B860-DF511475FABF}" type="presParOf" srcId="{4A705C56-DCC9-4BDC-963E-E3C1A32B8124}" destId="{172F9AEA-3377-4AFB-BDDB-45672D648ACC}" srcOrd="1" destOrd="0" presId="urn:microsoft.com/office/officeart/2018/5/layout/IconCircleLabelList"/>
    <dgm:cxn modelId="{E70A3D01-85AC-4556-B266-4E7847A9FEEC}" type="presParOf" srcId="{4A705C56-DCC9-4BDC-963E-E3C1A32B8124}" destId="{7C97D28A-6337-4BD4-88DA-E386C94E58EA}" srcOrd="2" destOrd="0" presId="urn:microsoft.com/office/officeart/2018/5/layout/IconCircleLabelList"/>
    <dgm:cxn modelId="{1D938727-B51F-4DB6-B47F-19DCB6B3B3E0}" type="presParOf" srcId="{4A705C56-DCC9-4BDC-963E-E3C1A32B8124}" destId="{7CEA8AF0-CDCB-4FBD-8FCB-A8EECB922CE0}" srcOrd="3" destOrd="0" presId="urn:microsoft.com/office/officeart/2018/5/layout/IconCircleLabelList"/>
    <dgm:cxn modelId="{C99FA575-863A-4F30-A66C-2AC2D9CDF739}" type="presParOf" srcId="{D8316F63-CE47-407B-9DCB-E8FEC91F0742}" destId="{92A8B23C-69B8-4E96-B33F-BB2C249D15FB}" srcOrd="3" destOrd="0" presId="urn:microsoft.com/office/officeart/2018/5/layout/IconCircleLabelList"/>
    <dgm:cxn modelId="{19CF721B-33E2-4529-9403-5AB9BBA47D98}" type="presParOf" srcId="{D8316F63-CE47-407B-9DCB-E8FEC91F0742}" destId="{D938C496-9BEF-45FE-B395-F2557FB65E88}" srcOrd="4" destOrd="0" presId="urn:microsoft.com/office/officeart/2018/5/layout/IconCircleLabelList"/>
    <dgm:cxn modelId="{658D0125-C3C9-4D5B-8DF0-5E2057102680}" type="presParOf" srcId="{D938C496-9BEF-45FE-B395-F2557FB65E88}" destId="{1F290E81-B7E4-40F0-A220-DB97594D9AE3}" srcOrd="0" destOrd="0" presId="urn:microsoft.com/office/officeart/2018/5/layout/IconCircleLabelList"/>
    <dgm:cxn modelId="{50F2BB0B-CE08-4F41-A25B-1FF84C93EEEF}" type="presParOf" srcId="{D938C496-9BEF-45FE-B395-F2557FB65E88}" destId="{9FDBD919-83B2-43D2-B22A-C1D340DD896A}" srcOrd="1" destOrd="0" presId="urn:microsoft.com/office/officeart/2018/5/layout/IconCircleLabelList"/>
    <dgm:cxn modelId="{51BF9BE5-F346-4A35-A9C3-91EDDD48FDDA}" type="presParOf" srcId="{D938C496-9BEF-45FE-B395-F2557FB65E88}" destId="{448386B8-992B-4E81-92FA-A2A8D3DE4E53}" srcOrd="2" destOrd="0" presId="urn:microsoft.com/office/officeart/2018/5/layout/IconCircleLabelList"/>
    <dgm:cxn modelId="{DFB9ED2B-2930-4C79-B0BD-4EA886CDAA92}" type="presParOf" srcId="{D938C496-9BEF-45FE-B395-F2557FB65E88}" destId="{3F410A1B-B3E5-49A9-AA89-AAA8A26BCB24}" srcOrd="3" destOrd="0" presId="urn:microsoft.com/office/officeart/2018/5/layout/IconCircleLabelList"/>
    <dgm:cxn modelId="{261BF724-C195-49FC-98B1-0E02F339F1F9}" type="presParOf" srcId="{D8316F63-CE47-407B-9DCB-E8FEC91F0742}" destId="{AD0B658B-B50A-40EF-B4FE-7234C25616F8}" srcOrd="5" destOrd="0" presId="urn:microsoft.com/office/officeart/2018/5/layout/IconCircleLabelList"/>
    <dgm:cxn modelId="{D185BF21-7E56-4FEF-8D8D-7AFA57AE257F}" type="presParOf" srcId="{D8316F63-CE47-407B-9DCB-E8FEC91F0742}" destId="{CAC241F1-438C-4156-AE32-1C9D5A4592D9}" srcOrd="6" destOrd="0" presId="urn:microsoft.com/office/officeart/2018/5/layout/IconCircleLabelList"/>
    <dgm:cxn modelId="{CCB975DD-FEAD-46AB-8FA8-28FB14C050DE}" type="presParOf" srcId="{CAC241F1-438C-4156-AE32-1C9D5A4592D9}" destId="{17388459-6EB8-4F5E-BF5C-9EB4EB9F5789}" srcOrd="0" destOrd="0" presId="urn:microsoft.com/office/officeart/2018/5/layout/IconCircleLabelList"/>
    <dgm:cxn modelId="{B1B44AEE-20A0-49E0-A0A9-7D5238CE1C61}" type="presParOf" srcId="{CAC241F1-438C-4156-AE32-1C9D5A4592D9}" destId="{958D9CF1-097F-4361-ABD4-11EB84ECFAE9}" srcOrd="1" destOrd="0" presId="urn:microsoft.com/office/officeart/2018/5/layout/IconCircleLabelList"/>
    <dgm:cxn modelId="{7028E282-AF31-4A2A-AED3-D9025F008A50}" type="presParOf" srcId="{CAC241F1-438C-4156-AE32-1C9D5A4592D9}" destId="{9B133744-2F9F-4D93-9D78-885476BC07F6}" srcOrd="2" destOrd="0" presId="urn:microsoft.com/office/officeart/2018/5/layout/IconCircleLabelList"/>
    <dgm:cxn modelId="{CF8EEE8A-A4B0-424D-BC69-4A13116257FE}" type="presParOf" srcId="{CAC241F1-438C-4156-AE32-1C9D5A4592D9}" destId="{FE08D94C-0979-4A7E-9611-4E89C272E0B9}" srcOrd="3" destOrd="0" presId="urn:microsoft.com/office/officeart/2018/5/layout/IconCircleLabelList"/>
    <dgm:cxn modelId="{6F8A1D2F-4082-46E9-97C8-228A569C506F}" type="presParOf" srcId="{D8316F63-CE47-407B-9DCB-E8FEC91F0742}" destId="{D32C510A-6CA6-410D-A15E-1EF69D9DB601}" srcOrd="7" destOrd="0" presId="urn:microsoft.com/office/officeart/2018/5/layout/IconCircleLabelList"/>
    <dgm:cxn modelId="{FBF44D68-C0CF-441D-85FF-0B869D691C1B}" type="presParOf" srcId="{D8316F63-CE47-407B-9DCB-E8FEC91F0742}" destId="{CC946639-4A2B-4307-8E5A-06D67A6E7DE4}" srcOrd="8" destOrd="0" presId="urn:microsoft.com/office/officeart/2018/5/layout/IconCircleLabelList"/>
    <dgm:cxn modelId="{C419D7C9-2225-481C-9224-DE994A445339}" type="presParOf" srcId="{CC946639-4A2B-4307-8E5A-06D67A6E7DE4}" destId="{21D2485F-A179-4312-960D-B04D23F73093}" srcOrd="0" destOrd="0" presId="urn:microsoft.com/office/officeart/2018/5/layout/IconCircleLabelList"/>
    <dgm:cxn modelId="{8A0E5A25-9340-4772-8BFE-36DB1C781D0C}" type="presParOf" srcId="{CC946639-4A2B-4307-8E5A-06D67A6E7DE4}" destId="{E71EB1C6-24EC-4328-9469-745343CCA869}" srcOrd="1" destOrd="0" presId="urn:microsoft.com/office/officeart/2018/5/layout/IconCircleLabelList"/>
    <dgm:cxn modelId="{1C8FF9A0-00E9-4C75-BDAF-F80A970D010E}" type="presParOf" srcId="{CC946639-4A2B-4307-8E5A-06D67A6E7DE4}" destId="{284A2FFB-96C0-4491-838B-4F5E0ADB220A}" srcOrd="2" destOrd="0" presId="urn:microsoft.com/office/officeart/2018/5/layout/IconCircleLabelList"/>
    <dgm:cxn modelId="{5AAD1A1D-C6C7-4AB9-AC64-270DF1571F9E}" type="presParOf" srcId="{CC946639-4A2B-4307-8E5A-06D67A6E7DE4}" destId="{1BA5D214-334E-4BA2-B451-DC551C28264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8B40A-85CB-44CF-9E81-3063936285E3}">
      <dsp:nvSpPr>
        <dsp:cNvPr id="0" name=""/>
        <dsp:cNvSpPr/>
      </dsp:nvSpPr>
      <dsp:spPr>
        <a:xfrm>
          <a:off x="348206" y="835188"/>
          <a:ext cx="1075482" cy="10754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5524FB-3A0E-4BA5-B04E-59FC2E252AEB}">
      <dsp:nvSpPr>
        <dsp:cNvPr id="0" name=""/>
        <dsp:cNvSpPr/>
      </dsp:nvSpPr>
      <dsp:spPr>
        <a:xfrm>
          <a:off x="577408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51185-6747-4E77-A3B3-9CCD7AC625EB}">
      <dsp:nvSpPr>
        <dsp:cNvPr id="0" name=""/>
        <dsp:cNvSpPr/>
      </dsp:nvSpPr>
      <dsp:spPr>
        <a:xfrm>
          <a:off x="4405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SCRAPING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STRATEGY</a:t>
          </a:r>
        </a:p>
      </dsp:txBody>
      <dsp:txXfrm>
        <a:off x="4405" y="2245657"/>
        <a:ext cx="1763085" cy="705234"/>
      </dsp:txXfrm>
    </dsp:sp>
    <dsp:sp modelId="{C4618682-3912-4E72-999D-4BF5CD06322D}">
      <dsp:nvSpPr>
        <dsp:cNvPr id="0" name=""/>
        <dsp:cNvSpPr/>
      </dsp:nvSpPr>
      <dsp:spPr>
        <a:xfrm>
          <a:off x="2419832" y="835188"/>
          <a:ext cx="1075482" cy="10754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2F9AEA-3377-4AFB-BDDB-45672D648ACC}">
      <dsp:nvSpPr>
        <dsp:cNvPr id="0" name=""/>
        <dsp:cNvSpPr/>
      </dsp:nvSpPr>
      <dsp:spPr>
        <a:xfrm>
          <a:off x="2649033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A8AF0-CDCB-4FBD-8FCB-A8EECB922CE0}">
      <dsp:nvSpPr>
        <dsp:cNvPr id="0" name=""/>
        <dsp:cNvSpPr/>
      </dsp:nvSpPr>
      <dsp:spPr>
        <a:xfrm>
          <a:off x="2076031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Data collection</a:t>
          </a:r>
        </a:p>
      </dsp:txBody>
      <dsp:txXfrm>
        <a:off x="2076031" y="2245657"/>
        <a:ext cx="1763085" cy="705234"/>
      </dsp:txXfrm>
    </dsp:sp>
    <dsp:sp modelId="{1F290E81-B7E4-40F0-A220-DB97594D9AE3}">
      <dsp:nvSpPr>
        <dsp:cNvPr id="0" name=""/>
        <dsp:cNvSpPr/>
      </dsp:nvSpPr>
      <dsp:spPr>
        <a:xfrm>
          <a:off x="4491458" y="835188"/>
          <a:ext cx="1075482" cy="10754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DBD919-83B2-43D2-B22A-C1D340DD896A}">
      <dsp:nvSpPr>
        <dsp:cNvPr id="0" name=""/>
        <dsp:cNvSpPr/>
      </dsp:nvSpPr>
      <dsp:spPr>
        <a:xfrm>
          <a:off x="9441319" y="0"/>
          <a:ext cx="617080" cy="6170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10A1B-B3E5-49A9-AA89-AAA8A26BCB24}">
      <dsp:nvSpPr>
        <dsp:cNvPr id="0" name=""/>
        <dsp:cNvSpPr/>
      </dsp:nvSpPr>
      <dsp:spPr>
        <a:xfrm>
          <a:off x="4147657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DATA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ENRICHMENT</a:t>
          </a:r>
        </a:p>
      </dsp:txBody>
      <dsp:txXfrm>
        <a:off x="4147657" y="2245657"/>
        <a:ext cx="1763085" cy="705234"/>
      </dsp:txXfrm>
    </dsp:sp>
    <dsp:sp modelId="{17388459-6EB8-4F5E-BF5C-9EB4EB9F5789}">
      <dsp:nvSpPr>
        <dsp:cNvPr id="0" name=""/>
        <dsp:cNvSpPr/>
      </dsp:nvSpPr>
      <dsp:spPr>
        <a:xfrm>
          <a:off x="6563084" y="835188"/>
          <a:ext cx="1075482" cy="107548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8D9CF1-097F-4361-ABD4-11EB84ECFAE9}">
      <dsp:nvSpPr>
        <dsp:cNvPr id="0" name=""/>
        <dsp:cNvSpPr/>
      </dsp:nvSpPr>
      <dsp:spPr>
        <a:xfrm>
          <a:off x="6792285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8D94C-0979-4A7E-9611-4E89C272E0B9}">
      <dsp:nvSpPr>
        <dsp:cNvPr id="0" name=""/>
        <dsp:cNvSpPr/>
      </dsp:nvSpPr>
      <dsp:spPr>
        <a:xfrm>
          <a:off x="6219283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Data cleaning</a:t>
          </a:r>
        </a:p>
      </dsp:txBody>
      <dsp:txXfrm>
        <a:off x="6219283" y="2245657"/>
        <a:ext cx="1763085" cy="705234"/>
      </dsp:txXfrm>
    </dsp:sp>
    <dsp:sp modelId="{21D2485F-A179-4312-960D-B04D23F73093}">
      <dsp:nvSpPr>
        <dsp:cNvPr id="0" name=""/>
        <dsp:cNvSpPr/>
      </dsp:nvSpPr>
      <dsp:spPr>
        <a:xfrm>
          <a:off x="8634710" y="835188"/>
          <a:ext cx="1075482" cy="107548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EB1C6-24EC-4328-9469-745343CCA869}">
      <dsp:nvSpPr>
        <dsp:cNvPr id="0" name=""/>
        <dsp:cNvSpPr/>
      </dsp:nvSpPr>
      <dsp:spPr>
        <a:xfrm>
          <a:off x="8863911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5D214-334E-4BA2-B451-DC551C28264B}">
      <dsp:nvSpPr>
        <dsp:cNvPr id="0" name=""/>
        <dsp:cNvSpPr/>
      </dsp:nvSpPr>
      <dsp:spPr>
        <a:xfrm>
          <a:off x="8290908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Balancing &amp;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labelling </a:t>
          </a:r>
        </a:p>
      </dsp:txBody>
      <dsp:txXfrm>
        <a:off x="8290908" y="2245657"/>
        <a:ext cx="1763085" cy="7052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2779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5333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564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8266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0404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755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E8D-DF54-49BE-BDBC-401B280C4E3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71137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E01-3159-42E8-9946-B3F7564EBC72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90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E8D-DF54-49BE-BDBC-401B280C4E3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240352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ECCD-A9BB-4C40-8999-9FDE0B2AF02D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45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1315-80A2-4A6F-99BC-2337EDBA509A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47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CEE-D38D-4315-8661-B8B16CE6B114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75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09053-E1DD-4959-BC7A-C98D3D2614D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arallélogramme 14">
            <a:extLst>
              <a:ext uri="{FF2B5EF4-FFF2-40B4-BE49-F238E27FC236}">
                <a16:creationId xmlns:a16="http://schemas.microsoft.com/office/drawing/2014/main" id="{7FC7D058-E05C-3542-AE77-78D595FCA380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050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C849-F1D8-4230-9F2F-9250D675BB2A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Parallélogramme 14">
            <a:extLst>
              <a:ext uri="{FF2B5EF4-FFF2-40B4-BE49-F238E27FC236}">
                <a16:creationId xmlns:a16="http://schemas.microsoft.com/office/drawing/2014/main" id="{15CDF15D-2F92-AC02-A4B2-6318B2C7AE54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B886FB-C35A-5B6E-DD04-E683DE7B6EA2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298979-2A82-B479-E48C-7781BBA2896B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1" name="Connecteur droit 19">
            <a:extLst>
              <a:ext uri="{FF2B5EF4-FFF2-40B4-BE49-F238E27FC236}">
                <a16:creationId xmlns:a16="http://schemas.microsoft.com/office/drawing/2014/main" id="{0A888D48-D655-17F9-1E90-8946D72DBB4C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9">
            <a:extLst>
              <a:ext uri="{FF2B5EF4-FFF2-40B4-BE49-F238E27FC236}">
                <a16:creationId xmlns:a16="http://schemas.microsoft.com/office/drawing/2014/main" id="{E61B664D-9E74-8D08-4735-C9DCF142AA3E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9">
            <a:extLst>
              <a:ext uri="{FF2B5EF4-FFF2-40B4-BE49-F238E27FC236}">
                <a16:creationId xmlns:a16="http://schemas.microsoft.com/office/drawing/2014/main" id="{2231271F-A9D5-BA8F-BA43-8E16B96E70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16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6700-360D-4474-9946-7580E8968658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16E0E9-3245-FB08-457E-537A53BD586A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261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E8D-DF54-49BE-BDBC-401B280C4E3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39506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E8D-DF54-49BE-BDBC-401B280C4E3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15154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E8D-DF54-49BE-BDBC-401B280C4E3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055793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E8D-DF54-49BE-BDBC-401B280C4E3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29507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E8D-DF54-49BE-BDBC-401B280C4E3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787839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E8D-DF54-49BE-BDBC-401B280C4E3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826338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67F3-A942-43B7-9681-6435F4941075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638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6BB9-001A-4B59-8C51-603E71AE3226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10864F-7D23-07FB-72DF-AEF3F5D44201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8718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8650-8C82-4FB0-9266-0148B376A8CE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678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8990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85486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3640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EFB0D-6DB6-450D-981E-DB5B064ABC8F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10F8E8D-DF54-49BE-BDBC-401B280C4E3C}" type="datetime1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Parallélogramme 14">
            <a:extLst>
              <a:ext uri="{FF2B5EF4-FFF2-40B4-BE49-F238E27FC236}">
                <a16:creationId xmlns:a16="http://schemas.microsoft.com/office/drawing/2014/main" id="{48157DE0-5D9C-DEF6-B261-898DE39B46BA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6D3570-84E7-6F17-56BB-11D8526F5521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0498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  <p:sldLayoutId id="2147483850" r:id="rId18"/>
    <p:sldLayoutId id="2147483851" r:id="rId19"/>
    <p:sldLayoutId id="2147483852" r:id="rId20"/>
    <p:sldLayoutId id="2147483853" r:id="rId21"/>
    <p:sldLayoutId id="2147483706" r:id="rId22"/>
    <p:sldLayoutId id="2147483708" r:id="rId23"/>
    <p:sldLayoutId id="2147483719" r:id="rId24"/>
    <p:sldLayoutId id="2147483721" r:id="rId25"/>
    <p:sldLayoutId id="2147483726" r:id="rId26"/>
    <p:sldLayoutId id="2147483722" r:id="rId2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Group of people talking">
            <a:extLst>
              <a:ext uri="{FF2B5EF4-FFF2-40B4-BE49-F238E27FC236}">
                <a16:creationId xmlns:a16="http://schemas.microsoft.com/office/drawing/2014/main" id="{C7D5F6B1-1228-4C2A-AE2C-950C34054C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4368" y="609600"/>
            <a:ext cx="4526280" cy="3227514"/>
          </a:xfrm>
        </p:spPr>
        <p:txBody>
          <a:bodyPr>
            <a:normAutofit/>
          </a:bodyPr>
          <a:lstStyle/>
          <a:p>
            <a:pPr algn="ctr"/>
            <a:r>
              <a:rPr lang="en-IN" sz="6600" dirty="0"/>
              <a:t>Startup Success Simulator </a:t>
            </a:r>
            <a:endParaRPr lang="en-US" sz="66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FB5E3C-FE17-44EA-B59B-183125D08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5126" y="4213532"/>
            <a:ext cx="4526280" cy="1279652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IN" sz="2000" dirty="0"/>
              <a:t>Predictive Model Evaluation Summary</a:t>
            </a:r>
          </a:p>
          <a:p>
            <a:pPr algn="ctr"/>
            <a:r>
              <a:rPr lang="en-US" sz="2000" dirty="0">
                <a:latin typeface="+mj-lt"/>
              </a:rPr>
              <a:t>By : ANNA</a:t>
            </a:r>
          </a:p>
          <a:p>
            <a:pPr algn="ctr"/>
            <a:r>
              <a:rPr lang="en-US" sz="2000" dirty="0">
                <a:latin typeface="+mj-lt"/>
              </a:rPr>
              <a:t>DATE : October 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CC13B4-AC24-B9C9-202B-A14863D2BEA6}"/>
              </a:ext>
            </a:extLst>
          </p:cNvPr>
          <p:cNvSpPr txBox="1"/>
          <p:nvPr/>
        </p:nvSpPr>
        <p:spPr>
          <a:xfrm>
            <a:off x="107950" y="609600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GrowthOracle</a:t>
            </a:r>
          </a:p>
        </p:txBody>
      </p: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8B3AAC-8A1C-620C-6742-49E9EC01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439308"/>
            <a:ext cx="9590550" cy="1828813"/>
          </a:xfrm>
        </p:spPr>
        <p:txBody>
          <a:bodyPr/>
          <a:lstStyle/>
          <a:p>
            <a:r>
              <a:rPr lang="en-US" dirty="0"/>
              <a:t>ABSTRACT</a:t>
            </a:r>
            <a:br>
              <a:rPr lang="en-US" dirty="0"/>
            </a:b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B65F87-A8E0-924E-579C-A3C5D0E57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3127762"/>
            <a:ext cx="9590550" cy="22909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GrowthOracle</a:t>
            </a:r>
            <a:r>
              <a:rPr lang="en-US" dirty="0"/>
              <a:t> – A Startup Success Simulator predicts early-stage venture outcomes using a modular, data-driven pipeline. It extracts features like team strength, funding history, and market fit, feeding them into a trained model that outputs a success probability score. This score is mapped to intuitive labels and projected funding stages. A future-facing result page extends this logic by estimating the startup’s likely success year, based on historical patterns and input dynamics. Backend logic drives all predictions, while the frontend offers recruiter-grade UI with dynamic forms and responsive feedback. The simulator empowers founders and investors with strategic, time-aware insights grounded in real-world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45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46B020-2B12-4533-AB98-A078339B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92" y="-131457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Journey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D22D53-586E-4F80-B549-03B4A942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92" y="1606621"/>
            <a:ext cx="6414402" cy="4482943"/>
          </a:xfrm>
        </p:spPr>
        <p:txBody>
          <a:bodyPr vert="horz" lIns="0" tIns="45720" rIns="0" bIns="45720" rtlCol="0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journey began with a simple question: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Can we predict which startups will succeed?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Driven by curiosity and a passion for data, we launched our first scraping pipeline, targeting startup directories, funding databases, and investor platforms.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started as raw HTML and fragmented APIs quickly evolved into a structured, multi-source dataset. We overcame access barriers, normalized messy schemas, and built enrichment logic to transform scattered records into meaningful insights.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project became more than just a technical challenge — it was a mission to bring clarity to the chaotic world of startup data. From scraping to schema harmonization, every step was a lesson in persistence, precision, and purpose.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Today, our models don’t just predict success — they reflect the story of how data, when refined and understood, can drive smarter decisions and unlock hidden potential.</a:t>
            </a:r>
          </a:p>
        </p:txBody>
      </p:sp>
      <p:pic>
        <p:nvPicPr>
          <p:cNvPr id="10" name="Picture Placeholder 9" descr="A view of a tall building">
            <a:extLst>
              <a:ext uri="{FF2B5EF4-FFF2-40B4-BE49-F238E27FC236}">
                <a16:creationId xmlns:a16="http://schemas.microsoft.com/office/drawing/2014/main" id="{7E7516D5-86C5-48B5-8E66-B9E6F735DF5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02" r="9892"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76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About Data Handling</a:t>
            </a:r>
            <a:endParaRPr lang="en-IN" dirty="0"/>
          </a:p>
        </p:txBody>
      </p:sp>
      <p:graphicFrame>
        <p:nvGraphicFramePr>
          <p:cNvPr id="9" name="Content Placeholder 6" descr="This is agenda slide with icons and texts">
            <a:extLst>
              <a:ext uri="{FF2B5EF4-FFF2-40B4-BE49-F238E27FC236}">
                <a16:creationId xmlns:a16="http://schemas.microsoft.com/office/drawing/2014/main" id="{08D3DC19-5976-4026-819D-310A946269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72677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 descr="Head with Gears">
            <a:extLst>
              <a:ext uri="{FF2B5EF4-FFF2-40B4-BE49-F238E27FC236}">
                <a16:creationId xmlns:a16="http://schemas.microsoft.com/office/drawing/2014/main" id="{3EE5C74C-6FE3-D30D-576B-95961EF38FEE}"/>
              </a:ext>
            </a:extLst>
          </p:cNvPr>
          <p:cNvSpPr/>
          <p:nvPr/>
        </p:nvSpPr>
        <p:spPr>
          <a:xfrm>
            <a:off x="5787460" y="3120460"/>
            <a:ext cx="617080" cy="61708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79633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735" y="1833740"/>
            <a:ext cx="3068833" cy="2093975"/>
          </a:xfrm>
        </p:spPr>
        <p:txBody>
          <a:bodyPr/>
          <a:lstStyle/>
          <a:p>
            <a:pPr algn="ctr"/>
            <a:r>
              <a:rPr lang="en-US" dirty="0"/>
              <a:t>About </a:t>
            </a:r>
            <a:br>
              <a:rPr lang="en-US" dirty="0"/>
            </a:br>
            <a:r>
              <a:rPr lang="en-US" dirty="0"/>
              <a:t>Dataset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1E9392-71EA-4293-909F-1FE7DD38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1768" y="1081549"/>
            <a:ext cx="6695768" cy="42816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Target Variables</a:t>
            </a:r>
          </a:p>
          <a:p>
            <a:pPr marL="566928" lvl="3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Classification: Success Label (Low, Medium, High) </a:t>
            </a:r>
          </a:p>
          <a:p>
            <a:pPr marL="566928" lvl="3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Regression: Success Score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Feature Types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Categorical: sector, city, states, funding stage </a:t>
            </a:r>
          </a:p>
          <a:p>
            <a:pPr marL="0" indent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Numerical: Funding amount, investor count, employee size </a:t>
            </a:r>
          </a:p>
          <a:p>
            <a:pPr marL="0" indent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Derived: Funding rounds, investor diversity, age of startup 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Volume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Thousands of startup records across multiple geographies [5000+]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Rich feature space enabling both predictive and interpretive modeling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707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791" y="1107741"/>
            <a:ext cx="5603009" cy="4763123"/>
          </a:xfrm>
        </p:spPr>
        <p:txBody>
          <a:bodyPr numCol="2">
            <a:normAutofit/>
          </a:bodyPr>
          <a:lstStyle/>
          <a:p>
            <a:pPr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INTRODUCTION</a:t>
            </a:r>
          </a:p>
          <a:p>
            <a:pPr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DATA PREPARATION</a:t>
            </a:r>
          </a:p>
          <a:p>
            <a:pPr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MODEL DEVELOPMENT</a:t>
            </a:r>
          </a:p>
          <a:p>
            <a:pPr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MODEL EVALUATION</a:t>
            </a:r>
          </a:p>
          <a:p>
            <a:pPr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FINAL MODEL SELECTION</a:t>
            </a:r>
          </a:p>
          <a:p>
            <a:pPr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DEPLOYMENT STRATEGY</a:t>
            </a:r>
          </a:p>
          <a:p>
            <a:pPr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FUTURE STEPS</a:t>
            </a:r>
          </a:p>
          <a:p>
            <a:pPr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</a:rPr>
              <a:t>SUMMARY OF INSIGHTS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1600" dirty="0">
              <a:latin typeface="+mj-lt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46B020-2B12-4533-AB98-A078339B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863" y="488035"/>
            <a:ext cx="4207339" cy="18432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Mission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D22D53-586E-4F80-B549-03B4A942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908" y="2505720"/>
            <a:ext cx="4973247" cy="3311766"/>
          </a:xfrm>
        </p:spPr>
        <p:txBody>
          <a:bodyPr vert="horz" lIns="0" tIns="45720" rIns="0" bIns="45720" rtlCol="0">
            <a:normAutofit/>
          </a:bodyPr>
          <a:lstStyle/>
          <a:p>
            <a:pPr marL="0" indent="0" algn="ctr">
              <a:buNone/>
            </a:pPr>
            <a:r>
              <a:rPr lang="en-US" dirty="0"/>
              <a:t>To create a transparent and scalable prediction engine that transforms startup evaluation. By combining precision modeling with fair, data-driven insights, we empower investors, founders, and analysts to make smarter, more confident decisions in a rapidly evolving ecosystem.</a:t>
            </a:r>
            <a:endParaRPr lang="en-US" dirty="0">
              <a:latin typeface="+mj-lt"/>
            </a:endParaRPr>
          </a:p>
        </p:txBody>
      </p:sp>
      <p:pic>
        <p:nvPicPr>
          <p:cNvPr id="9" name="Picture Placeholder 8" descr="A picture containing object that represents mission, goal&#10;">
            <a:extLst>
              <a:ext uri="{FF2B5EF4-FFF2-40B4-BE49-F238E27FC236}">
                <a16:creationId xmlns:a16="http://schemas.microsoft.com/office/drawing/2014/main" id="{8CFBDF6E-78AD-4FBA-9B07-1F98608A8B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xfrm>
            <a:off x="6151715" y="385604"/>
            <a:ext cx="5547914" cy="60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2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6DB04AA-2B2C-4162-AD6D-1FF80268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400" dirty="0"/>
              <a:t>What Our Simulator Predicts 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CBAAA8-DE36-46A7-8728-72C3486F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1901724"/>
            <a:ext cx="5983606" cy="4243438"/>
          </a:xfrm>
        </p:spPr>
        <p:txBody>
          <a:bodyPr vert="horz" lIns="0" tIns="45720" rIns="0" bIns="45720" rtlCol="0">
            <a:normAutofit fontScale="92500"/>
          </a:bodyPr>
          <a:lstStyle/>
          <a:p>
            <a:pPr marL="0" lv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 Score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Model-generated probability of startup success </a:t>
            </a:r>
          </a:p>
          <a:p>
            <a:pPr marL="0" lv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 Label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Interpreted outcome (e.g., High Potential, Moderate Risk) </a:t>
            </a:r>
          </a:p>
          <a:p>
            <a:pPr marL="0" lv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Funding Range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Estimated funding stage based on input features </a:t>
            </a:r>
          </a:p>
          <a:p>
            <a:pPr marL="0" lv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 Year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Predicted breakthrough year using historical patterns and dynamic inputs </a:t>
            </a:r>
          </a:p>
        </p:txBody>
      </p:sp>
      <p:pic>
        <p:nvPicPr>
          <p:cNvPr id="11" name="Picture Placeholder 10" descr="A picture containing sky, water, outdoor, person. It also reflects philosophy, peace&#10;&#10;">
            <a:extLst>
              <a:ext uri="{FF2B5EF4-FFF2-40B4-BE49-F238E27FC236}">
                <a16:creationId xmlns:a16="http://schemas.microsoft.com/office/drawing/2014/main" id="{94B2FFE9-6D1F-4DC1-8532-95405973AB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9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CC3EF0-F13E-468D-8198-2FFABAAB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Scraping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2A3650-CE74-4B2A-A714-A99CA1898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🌐 </a:t>
            </a:r>
            <a:r>
              <a:rPr lang="en-IN" dirty="0"/>
              <a:t>Sources Scraped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401CC4-711A-4213-A098-6A62651D89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Startup directories and funding platforms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Investor databases and accelerator listings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Regional innovation hubs and global startup indexes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Public APIs and dynamic web portals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F6AE95-B6EE-4C2B-8982-2E15916B0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🧪 Scraping Method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F5CF3C2-A35B-4374-871A-C68ACFAD473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Parsing: Used BeautifulSoup for static pages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Automation: Leveraged Selenium for JavaScript-heavy sites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Integration: Accessed structured data via REST endpoints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Pagination &amp; Filtering: Automated navigation across multi-page datasets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Proxy Rotation: Bypassed access limits and geo-restrictions </a:t>
            </a:r>
          </a:p>
        </p:txBody>
      </p:sp>
    </p:spTree>
    <p:extLst>
      <p:ext uri="{BB962C8B-B14F-4D97-AF65-F5344CB8AC3E}">
        <p14:creationId xmlns:p14="http://schemas.microsoft.com/office/powerpoint/2010/main" val="151147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5E388D-0F85-4EDA-A59C-C4E14987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D6565CB-45A4-465A-A747-D83A67D205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383222"/>
              </p:ext>
            </p:extLst>
          </p:nvPr>
        </p:nvGraphicFramePr>
        <p:xfrm>
          <a:off x="698090" y="2108199"/>
          <a:ext cx="10913808" cy="3544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8452">
                  <a:extLst>
                    <a:ext uri="{9D8B030D-6E8A-4147-A177-3AD203B41FA5}">
                      <a16:colId xmlns:a16="http://schemas.microsoft.com/office/drawing/2014/main" val="2527041651"/>
                    </a:ext>
                  </a:extLst>
                </a:gridCol>
                <a:gridCol w="2728452">
                  <a:extLst>
                    <a:ext uri="{9D8B030D-6E8A-4147-A177-3AD203B41FA5}">
                      <a16:colId xmlns:a16="http://schemas.microsoft.com/office/drawing/2014/main" val="2564999608"/>
                    </a:ext>
                  </a:extLst>
                </a:gridCol>
                <a:gridCol w="2728452">
                  <a:extLst>
                    <a:ext uri="{9D8B030D-6E8A-4147-A177-3AD203B41FA5}">
                      <a16:colId xmlns:a16="http://schemas.microsoft.com/office/drawing/2014/main" val="1779352262"/>
                    </a:ext>
                  </a:extLst>
                </a:gridCol>
                <a:gridCol w="2728452">
                  <a:extLst>
                    <a:ext uri="{9D8B030D-6E8A-4147-A177-3AD203B41FA5}">
                      <a16:colId xmlns:a16="http://schemas.microsoft.com/office/drawing/2014/main" val="2529204405"/>
                    </a:ext>
                  </a:extLst>
                </a:gridCol>
              </a:tblGrid>
              <a:tr h="673101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🏢 </a:t>
                      </a:r>
                      <a:r>
                        <a:rPr lang="en-IN" sz="20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Startup Directories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108757" marR="108757" marT="54378" marB="5437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💰 </a:t>
                      </a:r>
                      <a:r>
                        <a:rPr lang="en-IN" sz="20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Funding &amp; Investor Platform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108757" marR="108757" marT="54378" marB="543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🚀 </a:t>
                      </a:r>
                      <a:r>
                        <a:rPr lang="en-IN" sz="20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Accelerators &amp; Incubator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108757" marR="108757" marT="54378" marB="54378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📊 </a:t>
                      </a:r>
                      <a:r>
                        <a:rPr lang="en-IN" sz="20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Supplementary Source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108757" marR="108757" marT="54378" marB="54378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82286"/>
                  </a:ext>
                </a:extLst>
              </a:tr>
              <a:tr h="9421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STARTUP INDIA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CRUNCHBASE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Y COMBINATOR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OPENDATABAY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854204"/>
                  </a:ext>
                </a:extLst>
              </a:tr>
              <a:tr h="9421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YOURSTARTUPTALKY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TRACXN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WIKIPEDIA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FAILORY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341735"/>
                  </a:ext>
                </a:extLst>
              </a:tr>
              <a:tr h="9421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YOURSTORY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INC42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THUNDERBIT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GITHUB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567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373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271B-B9A4-A9C9-5DF5-87C7A30A3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673" y="1579418"/>
            <a:ext cx="3357516" cy="278672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dirty="0"/>
              <a:t>🧪</a:t>
            </a:r>
            <a:r>
              <a:rPr lang="en-US" dirty="0"/>
              <a:t>Data </a:t>
            </a:r>
            <a:r>
              <a:rPr lang="en-US" sz="4000" dirty="0"/>
              <a:t>Preprocessing</a:t>
            </a:r>
            <a:br>
              <a:rPr lang="en-US" dirty="0"/>
            </a:br>
            <a:r>
              <a:rPr lang="en-US" dirty="0"/>
              <a:t> &amp; </a:t>
            </a:r>
            <a:br>
              <a:rPr lang="en-US" dirty="0"/>
            </a:br>
            <a:r>
              <a:rPr lang="en-US" dirty="0"/>
              <a:t>Modeling Workflow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08DA7-8137-A0EB-CD75-480847FD1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3897" y="845108"/>
            <a:ext cx="4886890" cy="4326660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📊 Dataset Overview</a:t>
            </a:r>
          </a:p>
          <a:p>
            <a:pPr algn="ctr"/>
            <a:r>
              <a:rPr lang="en-IN" sz="2000" b="1" dirty="0"/>
              <a:t>Total Rows</a:t>
            </a:r>
            <a:r>
              <a:rPr lang="en-IN" sz="2000" dirty="0"/>
              <a:t>: </a:t>
            </a:r>
          </a:p>
          <a:p>
            <a:pPr marL="0" indent="0" algn="ctr">
              <a:buNone/>
            </a:pPr>
            <a:r>
              <a:rPr lang="en-IN" sz="2000" dirty="0"/>
              <a:t>5,232 startup records</a:t>
            </a:r>
          </a:p>
          <a:p>
            <a:pPr algn="ctr"/>
            <a:r>
              <a:rPr lang="en-IN" sz="2000" b="1" dirty="0"/>
              <a:t>Initial Inspection</a:t>
            </a:r>
            <a:r>
              <a:rPr lang="en-IN" sz="2000" dirty="0"/>
              <a:t>: </a:t>
            </a:r>
          </a:p>
          <a:p>
            <a:pPr marL="0" indent="0" algn="ctr">
              <a:buNone/>
            </a:pPr>
            <a:r>
              <a:rPr lang="en-IN" sz="2000" dirty="0" err="1"/>
              <a:t>data.head</a:t>
            </a:r>
            <a:r>
              <a:rPr lang="en-IN" sz="2000" dirty="0"/>
              <a:t>(), data.info(), </a:t>
            </a:r>
            <a:r>
              <a:rPr lang="en-IN" sz="2000" dirty="0" err="1"/>
              <a:t>data.shape</a:t>
            </a:r>
            <a:endParaRPr lang="en-IN" sz="2000" dirty="0"/>
          </a:p>
          <a:p>
            <a:pPr algn="ctr"/>
            <a:r>
              <a:rPr lang="en-IN" sz="2000" b="1" dirty="0"/>
              <a:t>Schema Harmonization</a:t>
            </a:r>
            <a:r>
              <a:rPr lang="en-IN" sz="2000" dirty="0"/>
              <a:t>: </a:t>
            </a:r>
          </a:p>
          <a:p>
            <a:pPr marL="0" indent="0" algn="ctr">
              <a:buNone/>
            </a:pPr>
            <a:r>
              <a:rPr lang="en-IN" sz="2000" dirty="0"/>
              <a:t>Unified columns across source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589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B8EB8-D0C5-F439-F8F9-5DA616372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501445"/>
            <a:ext cx="4743082" cy="610583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dirty="0"/>
              <a:t>🧼 Data Cleaning &amp; Enrichment</a:t>
            </a:r>
          </a:p>
          <a:p>
            <a:pPr algn="ctr">
              <a:lnSpc>
                <a:spcPct val="110000"/>
              </a:lnSpc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Missing Values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01168" lvl="1" indent="0" algn="ctr">
              <a:lnSpc>
                <a:spcPct val="11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Manually enriched using Wikipedia and public sources</a:t>
            </a:r>
          </a:p>
          <a:p>
            <a:pPr marL="201168" lvl="1" indent="0" algn="ctr">
              <a:lnSpc>
                <a:spcPct val="11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Predictive modeling used for certain columns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Mapping &amp; Normalization: </a:t>
            </a:r>
          </a:p>
          <a:p>
            <a:pPr marL="457200" lvl="1" indent="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Standardized funding stages, domains, and location labels </a:t>
            </a:r>
          </a:p>
          <a:p>
            <a:pPr marL="457200" lvl="1" indent="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Normalized numerical columns for consistency 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Encoding: </a:t>
            </a:r>
          </a:p>
          <a:p>
            <a:pPr marL="457200" lvl="1" indent="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Label encoding for categorical variables </a:t>
            </a:r>
          </a:p>
          <a:p>
            <a:pPr marL="457200" lvl="1" indent="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One-hot encoding where necessary </a:t>
            </a:r>
          </a:p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Column Pruning: </a:t>
            </a:r>
            <a:endParaRPr lang="en-US" alt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Dropped irrelevant or noisy columns </a:t>
            </a:r>
          </a:p>
          <a:p>
            <a:pPr marL="0" lvl="0" indent="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Retained features with predictive value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F853B-116F-EF39-7F87-948012DA5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1639" y="501445"/>
            <a:ext cx="4882699" cy="562405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dirty="0">
                <a:cs typeface="Arial" panose="020B0604020202020204" pitchFamily="34" charset="0"/>
              </a:rPr>
              <a:t>📈 Feature Engineering</a:t>
            </a:r>
          </a:p>
          <a:p>
            <a:pPr algn="ctr">
              <a:lnSpc>
                <a:spcPct val="11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Success Score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01168" lvl="1" indent="0" algn="ctr">
              <a:lnSpc>
                <a:spcPct val="11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Created using a normalized formula combining funding, investor count, and traction signals</a:t>
            </a:r>
          </a:p>
          <a:p>
            <a:pPr algn="ctr">
              <a:lnSpc>
                <a:spcPct val="11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Success Label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01168" lvl="1" indent="0" algn="ctr">
              <a:lnSpc>
                <a:spcPct val="11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Derived from score using threshold-based binning (Low, Medium, High)</a:t>
            </a:r>
          </a:p>
          <a:p>
            <a:pPr algn="ctr">
              <a:lnSpc>
                <a:spcPct val="11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Log Transformation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Applied to skewed columns for better model performance</a:t>
            </a:r>
          </a:p>
          <a:p>
            <a:pPr marL="0" indent="0" algn="ctr">
              <a:lnSpc>
                <a:spcPct val="110000"/>
              </a:lnSpc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cs typeface="Arial" panose="020B0604020202020204" pitchFamily="34" charset="0"/>
              </a:rPr>
              <a:t>📊 </a:t>
            </a:r>
            <a:r>
              <a:rPr lang="en-US" sz="2800" dirty="0">
                <a:cs typeface="Arial" panose="020B0604020202020204" pitchFamily="34" charset="0"/>
              </a:rPr>
              <a:t>Exploratory Analysis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Correlation matrix to identify key predictors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Visualizations:  boxplots, distribution curves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672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9421FD7-7C01-416B-A454-EF3090FDA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46012" y="827273"/>
            <a:ext cx="449911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Regression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</a:p>
          <a:p>
            <a:pPr mar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Predicting success score 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</a:p>
          <a:p>
            <a:pPr mar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Predicting success label 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Cross-Validation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</a:p>
          <a:p>
            <a:pPr mar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Ensured generalization across folds 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Confusion Matrix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</a:p>
          <a:p>
            <a:pPr mar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Evaluated classification performance 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Balanced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</a:p>
          <a:p>
            <a:pPr mar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Used to assess fairness across classes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56D17A-F562-5223-19A8-D90E20FC2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/>
              <a:t>🤖 </a:t>
            </a:r>
            <a:r>
              <a:rPr lang="en-IN" dirty="0" err="1"/>
              <a:t>Modeling</a:t>
            </a:r>
            <a:br>
              <a:rPr lang="en-IN" dirty="0"/>
            </a:br>
            <a:r>
              <a:rPr lang="en-IN" dirty="0"/>
              <a:t>&amp;</a:t>
            </a:r>
            <a:br>
              <a:rPr lang="en-IN" dirty="0"/>
            </a:br>
            <a:r>
              <a:rPr lang="en-IN" dirty="0"/>
              <a:t> Evaluation</a:t>
            </a:r>
          </a:p>
        </p:txBody>
      </p:sp>
    </p:spTree>
    <p:extLst>
      <p:ext uri="{BB962C8B-B14F-4D97-AF65-F5344CB8AC3E}">
        <p14:creationId xmlns:p14="http://schemas.microsoft.com/office/powerpoint/2010/main" val="2262031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9FD9-13B1-DA7D-EA9F-9F81D91B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9730"/>
            <a:ext cx="10058400" cy="1450757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</a:br>
            <a:br>
              <a:rPr lang="en-US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</a:br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🔍 Regression Model Performance Summary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BE91D61-5BA9-14F2-4E24-676634B016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3853192"/>
              </p:ext>
            </p:extLst>
          </p:nvPr>
        </p:nvGraphicFramePr>
        <p:xfrm>
          <a:off x="2010545" y="2646363"/>
          <a:ext cx="8647624" cy="3479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906">
                  <a:extLst>
                    <a:ext uri="{9D8B030D-6E8A-4147-A177-3AD203B41FA5}">
                      <a16:colId xmlns:a16="http://schemas.microsoft.com/office/drawing/2014/main" val="2666495987"/>
                    </a:ext>
                  </a:extLst>
                </a:gridCol>
                <a:gridCol w="2161906">
                  <a:extLst>
                    <a:ext uri="{9D8B030D-6E8A-4147-A177-3AD203B41FA5}">
                      <a16:colId xmlns:a16="http://schemas.microsoft.com/office/drawing/2014/main" val="3472740162"/>
                    </a:ext>
                  </a:extLst>
                </a:gridCol>
                <a:gridCol w="2161906">
                  <a:extLst>
                    <a:ext uri="{9D8B030D-6E8A-4147-A177-3AD203B41FA5}">
                      <a16:colId xmlns:a16="http://schemas.microsoft.com/office/drawing/2014/main" val="1327124025"/>
                    </a:ext>
                  </a:extLst>
                </a:gridCol>
                <a:gridCol w="2161906">
                  <a:extLst>
                    <a:ext uri="{9D8B030D-6E8A-4147-A177-3AD203B41FA5}">
                      <a16:colId xmlns:a16="http://schemas.microsoft.com/office/drawing/2014/main" val="2537052114"/>
                    </a:ext>
                  </a:extLst>
                </a:gridCol>
              </a:tblGrid>
              <a:tr h="86978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Models: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MSE: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3902007"/>
                  </a:ext>
                </a:extLst>
              </a:tr>
              <a:tr h="86978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0.000887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0.867110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618364"/>
                  </a:ext>
                </a:extLst>
              </a:tr>
              <a:tr h="86978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Polynomial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0.000737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0.889550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779903"/>
                  </a:ext>
                </a:extLst>
              </a:tr>
              <a:tr h="86978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Random Forest Regressor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0.000085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0.987311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622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796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4F92-8B03-7474-F4D4-58CBE9F2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📈 Classification Model Performance Summary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59A404-5518-3B1F-3416-E8A6CC01DD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108102"/>
              </p:ext>
            </p:extLst>
          </p:nvPr>
        </p:nvGraphicFramePr>
        <p:xfrm>
          <a:off x="914400" y="1731963"/>
          <a:ext cx="1035367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096">
                  <a:extLst>
                    <a:ext uri="{9D8B030D-6E8A-4147-A177-3AD203B41FA5}">
                      <a16:colId xmlns:a16="http://schemas.microsoft.com/office/drawing/2014/main" val="2717410686"/>
                    </a:ext>
                  </a:extLst>
                </a:gridCol>
                <a:gridCol w="1479096">
                  <a:extLst>
                    <a:ext uri="{9D8B030D-6E8A-4147-A177-3AD203B41FA5}">
                      <a16:colId xmlns:a16="http://schemas.microsoft.com/office/drawing/2014/main" val="3138662425"/>
                    </a:ext>
                  </a:extLst>
                </a:gridCol>
                <a:gridCol w="1479096">
                  <a:extLst>
                    <a:ext uri="{9D8B030D-6E8A-4147-A177-3AD203B41FA5}">
                      <a16:colId xmlns:a16="http://schemas.microsoft.com/office/drawing/2014/main" val="1568136125"/>
                    </a:ext>
                  </a:extLst>
                </a:gridCol>
                <a:gridCol w="1479096">
                  <a:extLst>
                    <a:ext uri="{9D8B030D-6E8A-4147-A177-3AD203B41FA5}">
                      <a16:colId xmlns:a16="http://schemas.microsoft.com/office/drawing/2014/main" val="1985055878"/>
                    </a:ext>
                  </a:extLst>
                </a:gridCol>
                <a:gridCol w="1479096">
                  <a:extLst>
                    <a:ext uri="{9D8B030D-6E8A-4147-A177-3AD203B41FA5}">
                      <a16:colId xmlns:a16="http://schemas.microsoft.com/office/drawing/2014/main" val="3014911485"/>
                    </a:ext>
                  </a:extLst>
                </a:gridCol>
                <a:gridCol w="1479096">
                  <a:extLst>
                    <a:ext uri="{9D8B030D-6E8A-4147-A177-3AD203B41FA5}">
                      <a16:colId xmlns:a16="http://schemas.microsoft.com/office/drawing/2014/main" val="3322918456"/>
                    </a:ext>
                  </a:extLst>
                </a:gridCol>
                <a:gridCol w="1479096">
                  <a:extLst>
                    <a:ext uri="{9D8B030D-6E8A-4147-A177-3AD203B41FA5}">
                      <a16:colId xmlns:a16="http://schemas.microsoft.com/office/drawing/2014/main" val="2490305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Models: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Accuracy: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Recall: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F1-Score: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Cross-Validation Scores: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34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0.629310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0.641528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0.629310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0.633400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0.303808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228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Decision Tree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0.997126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0.997132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0.997126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0.997128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0.897701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350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Random Forest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0.998084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0.998096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0.998084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0.998086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0.896935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989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b="1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XGB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0.997126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0.997132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0.997126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>
                          <a:effectLst/>
                        </a:rPr>
                        <a:t>0.997128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dirty="0">
                          <a:effectLst/>
                        </a:rPr>
                        <a:t>0.998084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405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37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2536-4C2C-9B89-5C99-C2EC1905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781664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Unified Startup Success Prediction Web App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D07E8-07A4-A636-FA91-EF8B2135F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279" y="1752114"/>
            <a:ext cx="10353762" cy="4058751"/>
          </a:xfrm>
        </p:spPr>
        <p:txBody>
          <a:bodyPr/>
          <a:lstStyle/>
          <a:p>
            <a:pPr marL="36900" indent="0">
              <a:buNone/>
            </a:pPr>
            <a:r>
              <a:rPr lang="en-US" dirty="0"/>
              <a:t>This Flask-based web application offers a modular framework for evaluating startup potential through four predictive dimensions: success score, success label, funding range, and projected success year. </a:t>
            </a:r>
          </a:p>
          <a:p>
            <a:pPr marL="36900" indent="0">
              <a:buNone/>
            </a:pPr>
            <a:r>
              <a:rPr lang="en-US" dirty="0"/>
              <a:t>It integrates three trained machine learning models—each targeting a specific outcome—and separates backend logic from frontend presentation for clarity and scalability. Users input structured startup data via dynamic forms, which are processed into feature vectors for prediction. </a:t>
            </a:r>
          </a:p>
          <a:p>
            <a:pPr marL="36900" indent="0">
              <a:buNone/>
            </a:pPr>
            <a:r>
              <a:rPr lang="en-US" dirty="0"/>
              <a:t>The app routes are organized into two flows: one for existing startups (yielding score, label, and funding) and another for future-facing projections (estimating breakthrough year). Designed for founders, investors, and analysts, the app delivers enriched insights through recruiter-grade UI and robust modeling.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605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E59BA-8EF8-8AD1-3B11-DDB85EA23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048" y="447368"/>
            <a:ext cx="10353762" cy="97045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tx2">
                    <a:lumMod val="75000"/>
                  </a:schemeClr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🧩 Modular Architecture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25AC2-6498-1194-D4C1-1ED283FC8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190" y="1183080"/>
            <a:ext cx="10941009" cy="522755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ts val="2150"/>
              </a:lnSpc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FRONTEND COMPONENTS</a:t>
            </a:r>
          </a:p>
          <a:p>
            <a:pPr marL="0" indent="0">
              <a:lnSpc>
                <a:spcPts val="215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web application's frontend is meticulously crafted with six distinct HTML pages, all elegantly styled using three dedicated CSS files, ensuring a clean, intuitive, and accessible user experience across all functionalities</a:t>
            </a:r>
            <a:endParaRPr lang="en-US" sz="1400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sz="1600" b="1" dirty="0">
                <a:latin typeface="Raleway" pitchFamily="2" charset="0"/>
              </a:rPr>
              <a:t> index.html</a:t>
            </a:r>
          </a:p>
          <a:p>
            <a:pPr marL="36900" indent="0">
              <a:buNone/>
            </a:pPr>
            <a:r>
              <a:rPr lang="en-US" sz="1600" dirty="0">
                <a:latin typeface="Raleway" pitchFamily="2" charset="0"/>
              </a:rPr>
              <a:t>Landing page introducing the simulator, its mission, and navigation options.</a:t>
            </a:r>
          </a:p>
          <a:p>
            <a:r>
              <a:rPr lang="en-US" sz="1600" b="1" dirty="0">
                <a:latin typeface="Raleway" pitchFamily="2" charset="0"/>
              </a:rPr>
              <a:t>existing.html</a:t>
            </a:r>
          </a:p>
          <a:p>
            <a:pPr marL="36900" indent="0">
              <a:buNone/>
            </a:pPr>
            <a:r>
              <a:rPr lang="en-US" sz="1600" dirty="0">
                <a:latin typeface="Raleway" pitchFamily="2" charset="0"/>
              </a:rPr>
              <a:t>Input form for startups with current data—collects features for success and funding prediction.</a:t>
            </a:r>
          </a:p>
          <a:p>
            <a:r>
              <a:rPr lang="en-US" sz="1600" b="1" dirty="0">
                <a:latin typeface="Raleway" pitchFamily="2" charset="0"/>
              </a:rPr>
              <a:t>result1.html</a:t>
            </a:r>
          </a:p>
          <a:p>
            <a:pPr marL="36900" indent="0">
              <a:buNone/>
            </a:pPr>
            <a:r>
              <a:rPr lang="en-US" sz="1600" dirty="0">
                <a:latin typeface="Raleway" pitchFamily="2" charset="0"/>
              </a:rPr>
              <a:t>Displays success label and predicted funding range based on submitted startup profile.</a:t>
            </a:r>
          </a:p>
          <a:p>
            <a:r>
              <a:rPr lang="en-US" sz="1600" b="1" dirty="0">
                <a:latin typeface="Raleway" pitchFamily="2" charset="0"/>
              </a:rPr>
              <a:t>future.html</a:t>
            </a:r>
          </a:p>
          <a:p>
            <a:pPr marL="36900" indent="0">
              <a:buNone/>
            </a:pPr>
            <a:r>
              <a:rPr lang="en-US" sz="1600" dirty="0">
                <a:latin typeface="Raleway" pitchFamily="2" charset="0"/>
              </a:rPr>
              <a:t>Form for projecting future growth—used to estimate the likely success year.</a:t>
            </a:r>
          </a:p>
          <a:p>
            <a:r>
              <a:rPr lang="en-US" sz="1600" b="1" dirty="0">
                <a:latin typeface="Raleway" pitchFamily="2" charset="0"/>
              </a:rPr>
              <a:t>result2.html</a:t>
            </a:r>
          </a:p>
          <a:p>
            <a:pPr marL="36900" indent="0">
              <a:buNone/>
            </a:pPr>
            <a:r>
              <a:rPr lang="en-US" sz="1600" dirty="0">
                <a:latin typeface="Raleway" pitchFamily="2" charset="0"/>
              </a:rPr>
              <a:t>Shows the predicted breakthrough year, completing the forward-looking evaluation.</a:t>
            </a:r>
          </a:p>
          <a:p>
            <a:r>
              <a:rPr lang="en-US" sz="1600" b="1" dirty="0">
                <a:latin typeface="Raleway" pitchFamily="2" charset="0"/>
              </a:rPr>
              <a:t>report.html</a:t>
            </a:r>
          </a:p>
          <a:p>
            <a:pPr marL="36900" indent="0">
              <a:buNone/>
            </a:pPr>
            <a:r>
              <a:rPr lang="en-US" sz="1600" dirty="0">
                <a:latin typeface="Raleway" pitchFamily="2" charset="0"/>
              </a:rPr>
              <a:t>Presents a brief introduction and links to the Tableau dashboard for interactive startup success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441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1DF06-24B4-A3B6-F499-A35A54056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786876"/>
            <a:ext cx="10353762" cy="4058751"/>
          </a:xfrm>
        </p:spPr>
        <p:txBody>
          <a:bodyPr/>
          <a:lstStyle/>
          <a:p>
            <a:pPr marL="36900" indent="0">
              <a:buNone/>
            </a:pPr>
            <a:r>
              <a:rPr lang="en-US" b="1" dirty="0"/>
              <a:t>BACKEND COMPONENTS</a:t>
            </a:r>
          </a:p>
          <a:p>
            <a:pPr marL="36900" indent="0">
              <a:buNone/>
            </a:pPr>
            <a:r>
              <a:rPr lang="en-US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logic of our web application is efficiently managed by a single </a:t>
            </a:r>
            <a:r>
              <a:rPr lang="en-US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r>
              <a:rPr lang="en-US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file, which orchestrates various server-side processes to ensure seamless operation and accurate predictions.</a:t>
            </a:r>
            <a:endParaRPr lang="en-US" dirty="0"/>
          </a:p>
          <a:p>
            <a:pPr marL="3690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7186B2-B157-2A88-0218-813EF0555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616269"/>
              </p:ext>
            </p:extLst>
          </p:nvPr>
        </p:nvGraphicFramePr>
        <p:xfrm>
          <a:off x="913794" y="2628899"/>
          <a:ext cx="10474642" cy="3740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7321">
                  <a:extLst>
                    <a:ext uri="{9D8B030D-6E8A-4147-A177-3AD203B41FA5}">
                      <a16:colId xmlns:a16="http://schemas.microsoft.com/office/drawing/2014/main" val="4075802014"/>
                    </a:ext>
                  </a:extLst>
                </a:gridCol>
                <a:gridCol w="5237321">
                  <a:extLst>
                    <a:ext uri="{9D8B030D-6E8A-4147-A177-3AD203B41FA5}">
                      <a16:colId xmlns:a16="http://schemas.microsoft.com/office/drawing/2014/main" val="298362733"/>
                    </a:ext>
                  </a:extLst>
                </a:gridCol>
              </a:tblGrid>
              <a:tr h="1870364">
                <a:tc>
                  <a:txBody>
                    <a:bodyPr/>
                    <a:lstStyle/>
                    <a:p>
                      <a:r>
                        <a:rPr lang="en-US" dirty="0"/>
                        <a:t>MODEL MANAGEMENT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CFCBB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Handles the loading and execution of all machine learning models, ensuring predictions are generated accurately and efficiently.</a:t>
                      </a:r>
                      <a:endParaRPr lang="en-US" sz="16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 ROUTING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CFCBB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Directs user requests to the correct frontend pages, facilitating smooth navigation and interaction within the application.</a:t>
                      </a:r>
                      <a:endParaRPr lang="en-US" sz="16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581541"/>
                  </a:ext>
                </a:extLst>
              </a:tr>
              <a:tr h="1870364">
                <a:tc>
                  <a:txBody>
                    <a:bodyPr/>
                    <a:lstStyle/>
                    <a:p>
                      <a:r>
                        <a:rPr lang="en-US" dirty="0"/>
                        <a:t>INPUT VALIDATION &amp; PREDICTION WORKFLOWS</a:t>
                      </a:r>
                    </a:p>
                    <a:p>
                      <a:r>
                        <a:rPr lang="en-US" sz="16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Ensures data integrity by validating all user inputs before processing and orchestrates the complete prediction pipeline</a:t>
                      </a:r>
                      <a:endParaRPr lang="en-IN" sz="16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CLASSIFICATION LOGIC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Applies classification rules &amp; translating raw predictions into understandable categories.</a:t>
                      </a:r>
                      <a:endParaRPr lang="en-US" sz="16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50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273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86030-3F85-4BBC-86AC-B3CD015B0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505" y="761999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chemeClr val="accent1">
                    <a:lumMod val="75000"/>
                  </a:schemeClr>
                </a:solidFill>
              </a:rPr>
              <a:t>🚀</a:t>
            </a:r>
            <a:r>
              <a:rPr lang="en-US" sz="6000" b="1" dirty="0">
                <a:solidFill>
                  <a:schemeClr val="accent1">
                    <a:lumMod val="75000"/>
                  </a:schemeClr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User Flow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197A1-FD60-3010-668E-0096C2D41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560196"/>
          </a:xfrm>
        </p:spPr>
        <p:txBody>
          <a:bodyPr>
            <a:normAutofit fontScale="92500" lnSpcReduction="20000"/>
          </a:bodyPr>
          <a:lstStyle/>
          <a:p>
            <a:pPr marL="36900" indent="0">
              <a:lnSpc>
                <a:spcPct val="150000"/>
              </a:lnSpc>
              <a:buNone/>
            </a:pPr>
            <a:r>
              <a:rPr lang="en-US" dirty="0"/>
              <a:t>Users begin at the Home Page (index.html), where they explore the simulator’s mission and navigate to prediction tools. From there, they choose between three paths: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Existing Startups (existing.html): </a:t>
            </a:r>
            <a:r>
              <a:rPr lang="en-US" dirty="0"/>
              <a:t>Users input current startup data to receive a success label, funding range, and score on result1.html.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Future Projection (future.html): </a:t>
            </a:r>
            <a:r>
              <a:rPr lang="en-US" dirty="0"/>
              <a:t>Users simulate growth over time to estimate their breakthrough year, displayed on result2.html.</a:t>
            </a:r>
          </a:p>
          <a:p>
            <a:pPr>
              <a:lnSpc>
                <a:spcPct val="150000"/>
              </a:lnSpc>
            </a:pPr>
            <a:r>
              <a:rPr lang="en-US" altLang="en-US" b="1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Interactive Report (report.html)</a:t>
            </a:r>
            <a:r>
              <a:rPr lang="en-US" altLang="en-US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: Users access a Tableau-powered dashboard offering dynamic insights into startup success patterns. </a:t>
            </a:r>
            <a:endParaRPr lang="en-US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10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This expanded flow enhances clarity, modularity, and recruiter-grade feedback—empowering smarter decisions through both predictive tools and visual analytics.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472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B546-ED7F-56E4-BD36-E89D0B00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🌐</a:t>
            </a: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Impact</a:t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353015-6A85-CA13-AA9A-E7156E6A4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0243" y="1580050"/>
            <a:ext cx="9497962" cy="4783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Empowers smarter decisions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for founders, investors, and analysts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Transforms raw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into actionable startup insights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Predicts success score, label, funding range, and breakthrough year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Promotes fairness and transparency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in startup evaluation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Reduces investment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through robust modeling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Accelerates innovation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by identifying high-potential ventures early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Scales across sectors and geographies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with modular architecture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Supports strategic planning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and pitch validation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Bridges analytics and usability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with recruiter-grade UI/UX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Fosters trust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through clear logic and explainable predictions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215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960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88099A-3B15-A74F-8948-83A58250F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“I thank the Almighty for the strength, clarity, and completion of this rewarding experience."</a:t>
            </a:r>
          </a:p>
          <a:p>
            <a:endParaRPr lang="en-US" dirty="0"/>
          </a:p>
          <a:p>
            <a:r>
              <a:rPr lang="en-US" dirty="0"/>
              <a:t>"With heartfelt thanks, I express my deep gratitude to my coordinator for unwavering support and guidance throughout this internship journey.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2240</TotalTime>
  <Words>1541</Words>
  <Application>Microsoft Office PowerPoint</Application>
  <PresentationFormat>Widescreen</PresentationFormat>
  <Paragraphs>231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Calisto MT</vt:lpstr>
      <vt:lpstr>Consolas</vt:lpstr>
      <vt:lpstr>Prata</vt:lpstr>
      <vt:lpstr>Raleway</vt:lpstr>
      <vt:lpstr>Wingdings</vt:lpstr>
      <vt:lpstr>Wingdings 2</vt:lpstr>
      <vt:lpstr>Slate</vt:lpstr>
      <vt:lpstr>Startup Success Simulator </vt:lpstr>
      <vt:lpstr>ABSTRACT </vt:lpstr>
      <vt:lpstr>Data Journey</vt:lpstr>
      <vt:lpstr>About Data Handling</vt:lpstr>
      <vt:lpstr>About  Dataset</vt:lpstr>
      <vt:lpstr>Agenda</vt:lpstr>
      <vt:lpstr>Mission</vt:lpstr>
      <vt:lpstr>What Our Simulator Predicts </vt:lpstr>
      <vt:lpstr>Data Scraping</vt:lpstr>
      <vt:lpstr>Data Collection</vt:lpstr>
      <vt:lpstr>🧪Data Preprocessing  &amp;  Modeling Workflow </vt:lpstr>
      <vt:lpstr>PowerPoint Presentation</vt:lpstr>
      <vt:lpstr>🤖 Modeling &amp;  Evaluation</vt:lpstr>
      <vt:lpstr>   🔍 Regression Model Performance Summary </vt:lpstr>
      <vt:lpstr>📈 Classification Model Performance Summary </vt:lpstr>
      <vt:lpstr>Unified Startup Success Prediction Web App </vt:lpstr>
      <vt:lpstr>🧩 Modular Architecture </vt:lpstr>
      <vt:lpstr>PowerPoint Presentation</vt:lpstr>
      <vt:lpstr>🚀 User Flow </vt:lpstr>
      <vt:lpstr>🌐 Impact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Joseph</dc:creator>
  <cp:lastModifiedBy>Kevin Joseph</cp:lastModifiedBy>
  <cp:revision>8</cp:revision>
  <dcterms:created xsi:type="dcterms:W3CDTF">2025-10-24T07:37:18Z</dcterms:created>
  <dcterms:modified xsi:type="dcterms:W3CDTF">2025-11-06T10:42:13Z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